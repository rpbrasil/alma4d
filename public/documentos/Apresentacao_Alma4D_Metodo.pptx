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4" d="100"/>
          <a:sy n="94" d="100"/>
        </p:scale>
        <p:origin x="1138" y="298"/>
      </p:cViewPr>
      <p:guideLst>
        <p:guide orient="horz" pos="162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693151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308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3657600" cy="3657600"/>
          </a:xfrm>
          <a:prstGeom prst="ellipse">
            <a:avLst/>
          </a:prstGeom>
          <a:solidFill>
            <a:schemeClr val="bg2">
              <a:alpha val="3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1097280" y="3200400"/>
            <a:ext cx="3200400" cy="3200400"/>
          </a:xfrm>
          <a:prstGeom prst="ellipse">
            <a:avLst/>
          </a:prstGeom>
          <a:solidFill>
            <a:srgbClr val="019499">
              <a:alpha val="3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8046720" y="3840480"/>
            <a:ext cx="1097280" cy="1097280"/>
          </a:xfrm>
          <a:prstGeom prst="ellipse">
            <a:avLst/>
          </a:prstGeom>
          <a:solidFill>
            <a:srgbClr val="DF633F">
              <a:alpha val="5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731520" y="1097280"/>
            <a:ext cx="73152" cy="210312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1005840" y="914400"/>
            <a:ext cx="6858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alma4D</a:t>
            </a:r>
            <a:endParaRPr lang="en-US" sz="5200" dirty="0"/>
          </a:p>
        </p:txBody>
      </p:sp>
      <p:sp>
        <p:nvSpPr>
          <p:cNvPr id="7" name="Text 5"/>
          <p:cNvSpPr/>
          <p:nvPr/>
        </p:nvSpPr>
        <p:spPr>
          <a:xfrm>
            <a:off x="1005840" y="2103120"/>
            <a:ext cx="6400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19499"/>
                </a:solidFill>
              </a:rPr>
              <a:t>Inteligência</a:t>
            </a:r>
            <a:r>
              <a:rPr lang="en-US" sz="2200" b="1" dirty="0">
                <a:solidFill>
                  <a:srgbClr val="019499"/>
                </a:solidFill>
              </a:rPr>
              <a:t> Organizacional</a:t>
            </a:r>
            <a:endParaRPr lang="en-US" sz="2200" dirty="0"/>
          </a:p>
          <a:p>
            <a:pPr marL="0" indent="0">
              <a:buNone/>
            </a:pPr>
            <a:r>
              <a:rPr lang="en-US" sz="2200" b="1" dirty="0">
                <a:solidFill>
                  <a:srgbClr val="019499"/>
                </a:solidFill>
              </a:rPr>
              <a:t>Aplicada ao Fator Humano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05840" y="3200400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Tudo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você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afeta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i="1" dirty="0" err="1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r>
              <a:rPr lang="en-US" sz="1600" i="1" dirty="0">
                <a:solidFill>
                  <a:srgbClr val="B0C4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resultado.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D4F20DA3-E03D-3980-B298-CA6F56F4A7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0027" y="212374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Por que o Fator Humano importa?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73152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548640" y="1417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6126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77%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73152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estão</a:t>
            </a:r>
            <a:endParaRPr lang="en-US" sz="12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engajadas no trabalho</a:t>
            </a:r>
            <a:endParaRPr lang="en-US" sz="1600" b="1" dirty="0"/>
          </a:p>
        </p:txBody>
      </p:sp>
      <p:sp>
        <p:nvSpPr>
          <p:cNvPr id="8" name="Text 6"/>
          <p:cNvSpPr/>
          <p:nvPr/>
        </p:nvSpPr>
        <p:spPr>
          <a:xfrm>
            <a:off x="73152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Gallup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38328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3383280" y="1188720"/>
            <a:ext cx="2560320" cy="73152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3383280" y="1417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</a:t>
            </a:r>
            <a:r>
              <a:rPr lang="en-US" sz="42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$1T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56616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 anual do Burnout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6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perda de produtividade</a:t>
            </a:r>
            <a:endParaRPr lang="en-US" sz="1200" b="1" dirty="0"/>
          </a:p>
        </p:txBody>
      </p:sp>
      <p:sp>
        <p:nvSpPr>
          <p:cNvPr id="13" name="Text 11"/>
          <p:cNvSpPr/>
          <p:nvPr/>
        </p:nvSpPr>
        <p:spPr>
          <a:xfrm>
            <a:off x="356616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OMS/Deloitte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1188720"/>
            <a:ext cx="2560320" cy="256032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5" name="Shape 13"/>
          <p:cNvSpPr/>
          <p:nvPr/>
        </p:nvSpPr>
        <p:spPr>
          <a:xfrm>
            <a:off x="6217920" y="1188720"/>
            <a:ext cx="2560320" cy="73152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6217920" y="141732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200" b="1" dirty="0">
                <a:solidFill>
                  <a:srgbClr val="0194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 em 4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6400800" y="21488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pessoas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algum</a:t>
            </a:r>
            <a:endParaRPr lang="en-US" sz="1200" dirty="0"/>
          </a:p>
          <a:p>
            <a:pPr marL="0" indent="0" algn="ctr">
              <a:buNone/>
            </a:pPr>
            <a:r>
              <a:rPr lang="en-US" sz="16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transtorno mental 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vida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0" y="310896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OMS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8046720" cy="822960"/>
          </a:xfrm>
          <a:prstGeom prst="rect">
            <a:avLst/>
          </a:prstGeom>
          <a:solidFill>
            <a:srgbClr val="030870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822960" y="3886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F633F"/>
                </a:solidFill>
              </a:rPr>
              <a:t>O problema:  </a:t>
            </a:r>
            <a:r>
              <a:rPr lang="en-US" sz="1400" dirty="0">
                <a:solidFill>
                  <a:srgbClr val="FFFFFF"/>
                </a:solidFill>
              </a:rPr>
              <a:t>Empresas medem receita e </a:t>
            </a:r>
            <a:r>
              <a:rPr lang="en-US" sz="1400" dirty="0" err="1">
                <a:solidFill>
                  <a:srgbClr val="FFFFFF"/>
                </a:solidFill>
              </a:rPr>
              <a:t>operação</a:t>
            </a:r>
            <a:r>
              <a:rPr lang="en-US" sz="1400" dirty="0">
                <a:solidFill>
                  <a:srgbClr val="FFFFFF"/>
                </a:solidFill>
              </a:rPr>
              <a:t>, mas </a:t>
            </a:r>
            <a:r>
              <a:rPr lang="en-US" sz="1400" dirty="0" err="1">
                <a:solidFill>
                  <a:srgbClr val="FFFFFF"/>
                </a:solidFill>
              </a:rPr>
              <a:t>não</a:t>
            </a:r>
            <a:r>
              <a:rPr lang="en-US" sz="1400" dirty="0">
                <a:solidFill>
                  <a:srgbClr val="FFFFFF"/>
                </a:solidFill>
              </a:rPr>
              <a:t> </a:t>
            </a:r>
            <a:r>
              <a:rPr lang="en-US" sz="1400" dirty="0" err="1">
                <a:solidFill>
                  <a:srgbClr val="FFFFFF"/>
                </a:solidFill>
              </a:rPr>
              <a:t>consideram</a:t>
            </a:r>
            <a:r>
              <a:rPr lang="en-US" sz="1400" dirty="0">
                <a:solidFill>
                  <a:srgbClr val="FFFFFF"/>
                </a:solidFill>
              </a:rPr>
              <a:t> o sistema que sustenta tudo: </a:t>
            </a:r>
            <a:r>
              <a:rPr lang="en-US" sz="1400" b="1" dirty="0">
                <a:solidFill>
                  <a:srgbClr val="019499"/>
                </a:solidFill>
              </a:rPr>
              <a:t>PESSOAS.</a:t>
            </a:r>
            <a:endParaRPr lang="en-US" sz="1400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EAD09D14-3B78-CA1F-78F9-DF98560A60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5960" y="67101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0" cy="5143500"/>
          </a:xfrm>
          <a:prstGeom prst="rect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2560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Arquitetura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Viva do</a:t>
            </a:r>
            <a:endParaRPr lang="en-US" sz="2600" dirty="0"/>
          </a:p>
          <a:p>
            <a:pPr marL="0" indent="0">
              <a:buNone/>
            </a:pPr>
            <a:r>
              <a:rPr lang="en-US" sz="2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Autocuidado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2377440"/>
            <a:ext cx="25603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r>
              <a:rPr lang="en-US" sz="1300" dirty="0" err="1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alma4D mensura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</a:t>
            </a:r>
            <a:r>
              <a:rPr lang="en-US" sz="1300" dirty="0" err="1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dimensões</a:t>
            </a:r>
            <a:r>
              <a:rPr lang="en-US" sz="1300" dirty="0">
                <a:solidFill>
                  <a:srgbClr val="0194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essenciais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371600" y="3657600"/>
            <a:ext cx="2286000" cy="2286000"/>
          </a:xfrm>
          <a:prstGeom prst="ellipse">
            <a:avLst/>
          </a:prstGeom>
          <a:solidFill>
            <a:srgbClr val="6126E2">
              <a:alpha val="2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Shape 4"/>
          <p:cNvSpPr/>
          <p:nvPr/>
        </p:nvSpPr>
        <p:spPr>
          <a:xfrm>
            <a:off x="3566160" y="457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3566160" y="457200"/>
            <a:ext cx="64008" cy="2011680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8" name="Shape 6"/>
          <p:cNvSpPr/>
          <p:nvPr/>
        </p:nvSpPr>
        <p:spPr>
          <a:xfrm>
            <a:off x="3794760" y="685800"/>
            <a:ext cx="502920" cy="502920"/>
          </a:xfrm>
          <a:prstGeom prst="ellipse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795528"/>
            <a:ext cx="283464" cy="283464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4434840" y="713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6126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Mental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379476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Plena, </a:t>
            </a: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Meditação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Relaxamento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6309360" y="457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3" name="Shape 10"/>
          <p:cNvSpPr/>
          <p:nvPr/>
        </p:nvSpPr>
        <p:spPr>
          <a:xfrm>
            <a:off x="6309360" y="457200"/>
            <a:ext cx="64008" cy="201168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4" name="Shape 11"/>
          <p:cNvSpPr/>
          <p:nvPr/>
        </p:nvSpPr>
        <p:spPr>
          <a:xfrm>
            <a:off x="6537960" y="685800"/>
            <a:ext cx="502920" cy="502920"/>
          </a:xfrm>
          <a:prstGeom prst="ellipse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7688" y="795528"/>
            <a:ext cx="283464" cy="283464"/>
          </a:xfrm>
          <a:prstGeom prst="rect">
            <a:avLst/>
          </a:prstGeom>
        </p:spPr>
      </p:pic>
      <p:sp>
        <p:nvSpPr>
          <p:cNvPr id="16" name="Text 12"/>
          <p:cNvSpPr/>
          <p:nvPr/>
        </p:nvSpPr>
        <p:spPr>
          <a:xfrm>
            <a:off x="7178040" y="713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194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Fisico</a:t>
            </a:r>
            <a:endParaRPr lang="en-US" sz="1800" dirty="0"/>
          </a:p>
        </p:txBody>
      </p:sp>
      <p:sp>
        <p:nvSpPr>
          <p:cNvPr id="17" name="Text 13"/>
          <p:cNvSpPr/>
          <p:nvPr/>
        </p:nvSpPr>
        <p:spPr>
          <a:xfrm>
            <a:off x="6537960" y="1371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Fisica, Postura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Corporal, Consciencia do Corpo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3566160" y="2743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9" name="Shape 15"/>
          <p:cNvSpPr/>
          <p:nvPr/>
        </p:nvSpPr>
        <p:spPr>
          <a:xfrm>
            <a:off x="3566160" y="2743200"/>
            <a:ext cx="64008" cy="2011680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0" name="Shape 16"/>
          <p:cNvSpPr/>
          <p:nvPr/>
        </p:nvSpPr>
        <p:spPr>
          <a:xfrm>
            <a:off x="3794760" y="2971800"/>
            <a:ext cx="502920" cy="502920"/>
          </a:xfrm>
          <a:prstGeom prst="ellipse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04488" y="3081528"/>
            <a:ext cx="283464" cy="283464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4434840" y="2999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Emocional</a:t>
            </a:r>
            <a:endParaRPr lang="en-US" sz="1800" dirty="0"/>
          </a:p>
        </p:txBody>
      </p:sp>
      <p:sp>
        <p:nvSpPr>
          <p:cNvPr id="23" name="Text 18"/>
          <p:cNvSpPr/>
          <p:nvPr/>
        </p:nvSpPr>
        <p:spPr>
          <a:xfrm>
            <a:off x="3794760" y="3657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Relações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no Trabalho,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Amigos e Familia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309360" y="2743200"/>
            <a:ext cx="2468880" cy="2011680"/>
          </a:xfrm>
          <a:prstGeom prst="rect">
            <a:avLst/>
          </a:prstGeom>
          <a:solidFill>
            <a:srgbClr val="F8F9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5" name="Shape 20"/>
          <p:cNvSpPr/>
          <p:nvPr/>
        </p:nvSpPr>
        <p:spPr>
          <a:xfrm>
            <a:off x="6309360" y="2743200"/>
            <a:ext cx="64008" cy="2011680"/>
          </a:xfrm>
          <a:prstGeom prst="rect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6" name="Shape 21"/>
          <p:cNvSpPr/>
          <p:nvPr/>
        </p:nvSpPr>
        <p:spPr>
          <a:xfrm>
            <a:off x="6537960" y="2971800"/>
            <a:ext cx="502920" cy="502920"/>
          </a:xfrm>
          <a:prstGeom prst="ellipse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7688" y="3081528"/>
            <a:ext cx="283464" cy="283464"/>
          </a:xfrm>
          <a:prstGeom prst="rect">
            <a:avLst/>
          </a:prstGeom>
        </p:spPr>
      </p:pic>
      <p:sp>
        <p:nvSpPr>
          <p:cNvPr id="28" name="Text 22"/>
          <p:cNvSpPr/>
          <p:nvPr/>
        </p:nvSpPr>
        <p:spPr>
          <a:xfrm>
            <a:off x="7178040" y="2999232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Vital</a:t>
            </a:r>
            <a:endParaRPr lang="en-US" sz="1800" dirty="0"/>
          </a:p>
        </p:txBody>
      </p:sp>
      <p:sp>
        <p:nvSpPr>
          <p:cNvPr id="29" name="Text 23"/>
          <p:cNvSpPr/>
          <p:nvPr/>
        </p:nvSpPr>
        <p:spPr>
          <a:xfrm>
            <a:off x="6537960" y="3657600"/>
            <a:ext cx="2011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Sono e</a:t>
            </a:r>
            <a:endParaRPr lang="en-US" sz="1100" dirty="0"/>
          </a:p>
          <a:p>
            <a:pPr marL="0" indent="0">
              <a:buNone/>
            </a:pPr>
            <a:r>
              <a:rPr lang="en-US" sz="11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Exposição</a:t>
            </a:r>
            <a:r>
              <a:rPr lang="en-US" sz="11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ao Sol</a:t>
            </a:r>
            <a:endParaRPr lang="en-US" sz="1100" dirty="0"/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64B6BCAF-B3BF-3395-BE25-92CC69DD1FE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8627" y="0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3087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315200" y="-731520"/>
            <a:ext cx="2743200" cy="2743200"/>
          </a:xfrm>
          <a:prstGeom prst="ellipse">
            <a:avLst/>
          </a:prstGeom>
          <a:solidFill>
            <a:schemeClr val="bg2">
              <a:alpha val="25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-731520" y="3657600"/>
            <a:ext cx="2286000" cy="2286000"/>
          </a:xfrm>
          <a:prstGeom prst="ellipse">
            <a:avLst/>
          </a:prstGeom>
          <a:solidFill>
            <a:srgbClr val="019499">
              <a:alpha val="2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Nenhuma</a:t>
            </a: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</a:t>
            </a:r>
            <a:r>
              <a:rPr lang="en-US" sz="28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Dimensão</a:t>
            </a:r>
            <a:r>
              <a:rPr lang="en-US" sz="2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atua Sozinha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548640" y="105156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b="1" dirty="0">
                <a:solidFill>
                  <a:srgbClr val="00B050"/>
                </a:solidFill>
              </a:rPr>
              <a:t>As dimensões se retroalimentam continuamente</a:t>
            </a:r>
            <a:endParaRPr lang="en-US" sz="1400" dirty="0">
              <a:solidFill>
                <a:srgbClr val="00B050"/>
              </a:solidFill>
            </a:endParaRPr>
          </a:p>
        </p:txBody>
      </p:sp>
      <p:sp>
        <p:nvSpPr>
          <p:cNvPr id="6" name="Shape 4"/>
          <p:cNvSpPr/>
          <p:nvPr/>
        </p:nvSpPr>
        <p:spPr>
          <a:xfrm>
            <a:off x="731520" y="1463040"/>
            <a:ext cx="2926080" cy="731520"/>
          </a:xfrm>
          <a:prstGeom prst="rect">
            <a:avLst/>
          </a:prstGeom>
          <a:solidFill>
            <a:srgbClr val="DF633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31520" y="146304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Queda Emocional</a:t>
            </a:r>
            <a:endParaRPr lang="en-US" sz="150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1627632"/>
            <a:ext cx="411480" cy="41148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663440" y="1463040"/>
            <a:ext cx="3749040" cy="731520"/>
          </a:xfrm>
          <a:prstGeom prst="rect">
            <a:avLst/>
          </a:prstGeom>
          <a:solidFill>
            <a:srgbClr val="DF633F">
              <a:alpha val="35000"/>
            </a:srgbClr>
          </a:solidFill>
          <a:ln w="25400">
            <a:solidFill>
              <a:srgbClr val="DF633F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0" name="Text 7"/>
          <p:cNvSpPr/>
          <p:nvPr/>
        </p:nvSpPr>
        <p:spPr>
          <a:xfrm>
            <a:off x="4663440" y="146304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 desempenho mental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731520" y="2423160"/>
            <a:ext cx="2926080" cy="731520"/>
          </a:xfrm>
          <a:prstGeom prst="rect">
            <a:avLst/>
          </a:prstGeom>
          <a:solidFill>
            <a:srgbClr val="6126E2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731520" y="242316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Sobrecarga Mental</a:t>
            </a:r>
            <a:endParaRPr lang="en-US" sz="15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2587752"/>
            <a:ext cx="411480" cy="41148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4663440" y="2423160"/>
            <a:ext cx="3749040" cy="731520"/>
          </a:xfrm>
          <a:prstGeom prst="rect">
            <a:avLst/>
          </a:prstGeom>
          <a:solidFill>
            <a:srgbClr val="6126E2">
              <a:alpha val="35000"/>
            </a:srgbClr>
          </a:solidFill>
          <a:ln w="25400">
            <a:solidFill>
              <a:srgbClr val="6126E2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15" name="Text 11"/>
          <p:cNvSpPr/>
          <p:nvPr/>
        </p:nvSpPr>
        <p:spPr>
          <a:xfrm>
            <a:off x="4663440" y="242316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somatização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impacta o fisico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731520" y="3383280"/>
            <a:ext cx="2926080" cy="731520"/>
          </a:xfrm>
          <a:prstGeom prst="rect">
            <a:avLst/>
          </a:prstGeom>
          <a:solidFill>
            <a:srgbClr val="019499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Text 13"/>
          <p:cNvSpPr/>
          <p:nvPr/>
        </p:nvSpPr>
        <p:spPr>
          <a:xfrm>
            <a:off x="731520" y="33832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Falta de </a:t>
            </a:r>
            <a:r>
              <a:rPr lang="en-US" sz="1500" b="1" dirty="0" err="1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Propósito</a:t>
            </a:r>
            <a:endParaRPr lang="en-US" sz="1500" dirty="0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7640" y="3547872"/>
            <a:ext cx="411480" cy="41148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4663440" y="3383280"/>
            <a:ext cx="3749040" cy="731520"/>
          </a:xfrm>
          <a:prstGeom prst="rect">
            <a:avLst/>
          </a:prstGeom>
          <a:solidFill>
            <a:srgbClr val="019499">
              <a:alpha val="35000"/>
            </a:srgbClr>
          </a:solidFill>
          <a:ln w="25400">
            <a:solidFill>
              <a:srgbClr val="01949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0" name="Text 15"/>
          <p:cNvSpPr/>
          <p:nvPr/>
        </p:nvSpPr>
        <p:spPr>
          <a:xfrm>
            <a:off x="4663440" y="3383280"/>
            <a:ext cx="3749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Impacta engajamento e performance</a:t>
            </a:r>
            <a:endParaRPr lang="en-US" sz="1400" dirty="0"/>
          </a:p>
        </p:txBody>
      </p:sp>
      <p:sp>
        <p:nvSpPr>
          <p:cNvPr id="21" name="Shape 16"/>
          <p:cNvSpPr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solidFill>
            <a:srgbClr val="DF633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2" name="Text 17"/>
          <p:cNvSpPr/>
          <p:nvPr/>
        </p:nvSpPr>
        <p:spPr>
          <a:xfrm>
            <a:off x="731520" y="416052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problemas na empresa s</a:t>
            </a:r>
            <a:r>
              <a:rPr lang="pt-BR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ã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</a:t>
            </a:r>
            <a:r>
              <a:rPr lang="en-US" sz="14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reflexo</a:t>
            </a: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 desequilibrios neste sistema.</a:t>
            </a:r>
            <a:endParaRPr lang="en-US" sz="14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CEB08D15-1421-0810-9F06-24BA12C3C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5662" y="52354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2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 err="1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Operacionalização</a:t>
            </a: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 do </a:t>
            </a:r>
            <a:r>
              <a:rPr lang="en-US" sz="3000" b="1" dirty="0" err="1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Método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18872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548640" y="1188720"/>
            <a:ext cx="2560320" cy="822960"/>
          </a:xfrm>
          <a:prstGeom prst="rect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685800" y="1234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01</a:t>
            </a:r>
            <a:endParaRPr lang="en-US" sz="3600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8880" y="1371600"/>
            <a:ext cx="457200" cy="4572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3152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6126E2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INPUT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3152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Autoavaliação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estruturada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(Roda Alma 4D)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3383280" y="118872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1" name="Shape 8"/>
          <p:cNvSpPr/>
          <p:nvPr/>
        </p:nvSpPr>
        <p:spPr>
          <a:xfrm>
            <a:off x="3383280" y="1188720"/>
            <a:ext cx="2560320" cy="82296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2" name="Text 9"/>
          <p:cNvSpPr/>
          <p:nvPr/>
        </p:nvSpPr>
        <p:spPr>
          <a:xfrm>
            <a:off x="3520440" y="1234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3600" dirty="0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1371600"/>
            <a:ext cx="457200" cy="4572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56616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01949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PROCESSAMENTO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56616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total,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E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por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 item dimensional.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6217920" y="1188720"/>
            <a:ext cx="2560320" cy="2377440"/>
          </a:xfrm>
          <a:prstGeom prst="rect">
            <a:avLst/>
          </a:prstGeom>
          <a:solidFill>
            <a:srgbClr val="FFFFFF"/>
          </a:solidFill>
          <a:ln/>
          <a:effectLst>
            <a:outerShdw blurRad="76200" dist="254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17" name="Shape 13"/>
          <p:cNvSpPr/>
          <p:nvPr/>
        </p:nvSpPr>
        <p:spPr>
          <a:xfrm>
            <a:off x="6217920" y="1188720"/>
            <a:ext cx="2560320" cy="822960"/>
          </a:xfrm>
          <a:prstGeom prst="rect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18" name="Text 14"/>
          <p:cNvSpPr/>
          <p:nvPr/>
        </p:nvSpPr>
        <p:spPr>
          <a:xfrm>
            <a:off x="6355080" y="1234440"/>
            <a:ext cx="914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3600" dirty="0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38160" y="1371600"/>
            <a:ext cx="457200" cy="4572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400800" y="214884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DF633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OUTPUT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00800" y="26060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estratégico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com</a:t>
            </a:r>
            <a:endParaRPr lang="en-US" sz="1200" dirty="0"/>
          </a:p>
          <a:p>
            <a:pPr marL="0" indent="0">
              <a:buNone/>
            </a:pP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Visualização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evolutivos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análises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 de </a:t>
            </a:r>
            <a:r>
              <a:rPr lang="en-US" sz="1200" dirty="0" err="1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Inteligência</a:t>
            </a:r>
            <a:r>
              <a:rPr lang="en-US" sz="1200" dirty="0">
                <a:solidFill>
                  <a:srgbClr val="0A0A2E"/>
                </a:solidFill>
                <a:latin typeface="Calibri" pitchFamily="34" charset="0"/>
                <a:cs typeface="Calibri" pitchFamily="34" charset="-120"/>
              </a:rPr>
              <a:t> Artificial.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548640" y="3749040"/>
            <a:ext cx="8046720" cy="914400"/>
          </a:xfrm>
          <a:prstGeom prst="rect">
            <a:avLst/>
          </a:prstGeom>
          <a:solidFill>
            <a:srgbClr val="030870"/>
          </a:solidFill>
          <a:ln/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23" name="Shape 18"/>
          <p:cNvSpPr/>
          <p:nvPr/>
        </p:nvSpPr>
        <p:spPr>
          <a:xfrm>
            <a:off x="777240" y="3931920"/>
            <a:ext cx="594360" cy="594360"/>
          </a:xfrm>
          <a:prstGeom prst="ellipse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6968" y="4041648"/>
            <a:ext cx="365760" cy="365760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554480" y="3886200"/>
            <a:ext cx="6858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19499"/>
                </a:solidFill>
              </a:rPr>
              <a:t>Compliance NR1</a:t>
            </a:r>
            <a:endParaRPr lang="en-US" sz="1500" dirty="0"/>
          </a:p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</a:rPr>
              <a:t>Atende a </a:t>
            </a:r>
            <a:r>
              <a:rPr lang="en-US" sz="1200" dirty="0" err="1">
                <a:solidFill>
                  <a:srgbClr val="FFFFFF"/>
                </a:solidFill>
              </a:rPr>
              <a:t>exigência</a:t>
            </a:r>
            <a:r>
              <a:rPr lang="en-US" sz="1200" dirty="0">
                <a:solidFill>
                  <a:srgbClr val="FFFFFF"/>
                </a:solidFill>
              </a:rPr>
              <a:t> legal de monitoramento de riscos psicossociais.</a:t>
            </a:r>
            <a:endParaRPr lang="en-US" sz="1500" dirty="0"/>
          </a:p>
        </p:txBody>
      </p:sp>
      <p:pic>
        <p:nvPicPr>
          <p:cNvPr id="28" name="Picture 27">
            <a:extLst>
              <a:ext uri="{FF2B5EF4-FFF2-40B4-BE49-F238E27FC236}">
                <a16:creationId xmlns:a16="http://schemas.microsoft.com/office/drawing/2014/main" id="{394CB785-3673-4318-C064-70087F33048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52907" y="54864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943600" y="0"/>
            <a:ext cx="3200400" cy="5143500"/>
          </a:xfrm>
          <a:prstGeom prst="rect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5029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Diferenciais</a:t>
            </a:r>
            <a:endParaRPr lang="en-US" sz="3000" dirty="0"/>
          </a:p>
          <a:p>
            <a:pPr marL="0" indent="0">
              <a:buNone/>
            </a:pPr>
            <a:r>
              <a:rPr lang="en-US" sz="3000" b="1" dirty="0">
                <a:solidFill>
                  <a:srgbClr val="03087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alma4D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Sistemas Tradicionais: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5029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Clima Anual  |  Subjetivo  |  Reativo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86000"/>
            <a:ext cx="411480" cy="411480"/>
          </a:xfrm>
          <a:prstGeom prst="ellipse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237744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143000" y="22860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Monitoramento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926080"/>
            <a:ext cx="411480" cy="411480"/>
          </a:xfrm>
          <a:prstGeom prst="ellipse">
            <a:avLst/>
          </a:prstGeom>
          <a:solidFill>
            <a:srgbClr val="6126E2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017520"/>
            <a:ext cx="228600" cy="22860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143000" y="29260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Estruturada e Preventiva</a:t>
            </a:r>
            <a:endParaRPr lang="en-US" sz="1500" dirty="0"/>
          </a:p>
        </p:txBody>
      </p:sp>
      <p:sp>
        <p:nvSpPr>
          <p:cNvPr id="12" name="Shape 8"/>
          <p:cNvSpPr/>
          <p:nvPr/>
        </p:nvSpPr>
        <p:spPr>
          <a:xfrm>
            <a:off x="548640" y="3566160"/>
            <a:ext cx="411480" cy="411480"/>
          </a:xfrm>
          <a:prstGeom prst="ellipse">
            <a:avLst/>
          </a:prstGeom>
          <a:solidFill>
            <a:srgbClr val="DF633F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3657600"/>
            <a:ext cx="228600" cy="2286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43000" y="35661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Visao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Sistêmica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da Estrutura Humana</a:t>
            </a:r>
            <a:endParaRPr lang="en-US" sz="1500" dirty="0"/>
          </a:p>
        </p:txBody>
      </p:sp>
      <p:sp>
        <p:nvSpPr>
          <p:cNvPr id="15" name="Shape 10"/>
          <p:cNvSpPr/>
          <p:nvPr/>
        </p:nvSpPr>
        <p:spPr>
          <a:xfrm>
            <a:off x="548640" y="4206240"/>
            <a:ext cx="411480" cy="411480"/>
          </a:xfrm>
          <a:prstGeom prst="ellipse">
            <a:avLst/>
          </a:prstGeom>
          <a:solidFill>
            <a:srgbClr val="030870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16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297680"/>
            <a:ext cx="228600" cy="22860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1143000" y="420624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</a:t>
            </a:r>
            <a:r>
              <a:rPr lang="en-US" sz="1500" b="1" dirty="0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500" b="1" dirty="0" err="1">
                <a:solidFill>
                  <a:srgbClr val="0A0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Sustentável</a:t>
            </a:r>
            <a:endParaRPr lang="en-US" sz="1500" dirty="0"/>
          </a:p>
        </p:txBody>
      </p:sp>
      <p:sp>
        <p:nvSpPr>
          <p:cNvPr id="18" name="Text 12"/>
          <p:cNvSpPr/>
          <p:nvPr/>
        </p:nvSpPr>
        <p:spPr>
          <a:xfrm>
            <a:off x="6217920" y="91440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alma4D</a:t>
            </a:r>
            <a:endParaRPr lang="en-US" sz="3200" dirty="0"/>
          </a:p>
        </p:txBody>
      </p:sp>
      <p:sp>
        <p:nvSpPr>
          <p:cNvPr id="19" name="Shape 13"/>
          <p:cNvSpPr/>
          <p:nvPr/>
        </p:nvSpPr>
        <p:spPr>
          <a:xfrm>
            <a:off x="6858000" y="2011680"/>
            <a:ext cx="2286000" cy="2286000"/>
          </a:xfrm>
          <a:prstGeom prst="ellipse">
            <a:avLst/>
          </a:prstGeom>
          <a:solidFill>
            <a:srgbClr val="6126E2">
              <a:alpha val="30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0" name="Shape 14"/>
          <p:cNvSpPr/>
          <p:nvPr/>
        </p:nvSpPr>
        <p:spPr>
          <a:xfrm>
            <a:off x="6217920" y="3200400"/>
            <a:ext cx="1828800" cy="1828800"/>
          </a:xfrm>
          <a:prstGeom prst="ellipse">
            <a:avLst/>
          </a:prstGeom>
          <a:solidFill>
            <a:schemeClr val="bg1">
              <a:alpha val="30000"/>
            </a:scheme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1" name="Shape 15"/>
          <p:cNvSpPr/>
          <p:nvPr/>
        </p:nvSpPr>
        <p:spPr>
          <a:xfrm>
            <a:off x="7498080" y="3657600"/>
            <a:ext cx="1188720" cy="1188720"/>
          </a:xfrm>
          <a:prstGeom prst="ellipse">
            <a:avLst/>
          </a:prstGeom>
          <a:solidFill>
            <a:srgbClr val="DF633F">
              <a:alpha val="45000"/>
            </a:srgbClr>
          </a:solidFill>
          <a:ln/>
        </p:spPr>
        <p:txBody>
          <a:bodyPr/>
          <a:lstStyle/>
          <a:p>
            <a:endParaRPr lang="en-US" dirty="0"/>
          </a:p>
        </p:txBody>
      </p:sp>
      <p:sp>
        <p:nvSpPr>
          <p:cNvPr id="22" name="Shape 16"/>
          <p:cNvSpPr/>
          <p:nvPr/>
        </p:nvSpPr>
        <p:spPr>
          <a:xfrm>
            <a:off x="0" y="4800600"/>
            <a:ext cx="5943600" cy="342900"/>
          </a:xfrm>
          <a:prstGeom prst="rect">
            <a:avLst/>
          </a:prstGeom>
          <a:solidFill>
            <a:srgbClr val="019499"/>
          </a:solidFill>
          <a:ln/>
        </p:spPr>
        <p:txBody>
          <a:bodyPr/>
          <a:lstStyle/>
          <a:p>
            <a:endParaRPr lang="en-US" dirty="0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9AC539E0-61A3-36B2-00C7-4D50926FE9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9867" y="3659387"/>
            <a:ext cx="884906" cy="88490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</TotalTime>
  <Words>248</Words>
  <Application>Microsoft Office PowerPoint</Application>
  <PresentationFormat>On-screen Show (16:9)</PresentationFormat>
  <Paragraphs>73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Arial</vt:lpstr>
      <vt:lpstr>Arial Black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rp brasil</dc:creator>
  <cp:keywords/>
  <dc:description>generated using python-pptx</dc:description>
  <cp:lastModifiedBy>rp brasil</cp:lastModifiedBy>
  <cp:revision>7</cp:revision>
  <dcterms:created xsi:type="dcterms:W3CDTF">2013-01-27T09:14:16Z</dcterms:created>
  <dcterms:modified xsi:type="dcterms:W3CDTF">2026-04-18T10:42:17Z</dcterms:modified>
  <cp:category/>
</cp:coreProperties>
</file>