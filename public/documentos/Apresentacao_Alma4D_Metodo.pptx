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1138" y="29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9315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8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chemeClr val="bg2">
              <a:alpha val="30000"/>
            </a:scheme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019499">
              <a:alpha val="3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8046720" y="3840480"/>
            <a:ext cx="1097280" cy="1097280"/>
          </a:xfrm>
          <a:prstGeom prst="ellipse">
            <a:avLst/>
          </a:prstGeom>
          <a:solidFill>
            <a:srgbClr val="DF633F">
              <a:alpha val="5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73152" cy="2103120"/>
          </a:xfrm>
          <a:prstGeom prst="rect">
            <a:avLst/>
          </a:prstGeom>
          <a:solidFill>
            <a:srgbClr val="019499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05840" y="9144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alma4D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019499"/>
                </a:solidFill>
              </a:rPr>
              <a:t>Inteligência</a:t>
            </a:r>
            <a:r>
              <a:rPr lang="en-US" sz="2200" b="1" dirty="0">
                <a:solidFill>
                  <a:srgbClr val="019499"/>
                </a:solidFill>
              </a:rPr>
              <a:t> Organizacional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019499"/>
                </a:solidFill>
              </a:rPr>
              <a:t>Aplicada ao Fator Humano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32004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 err="1">
                <a:solidFill>
                  <a:srgbClr val="B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</a:t>
            </a:r>
            <a:r>
              <a:rPr lang="en-US" sz="1600" i="1" dirty="0">
                <a:solidFill>
                  <a:srgbClr val="B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B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600" i="1" dirty="0">
                <a:solidFill>
                  <a:srgbClr val="B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B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</a:t>
            </a:r>
            <a:r>
              <a:rPr lang="en-US" sz="1600" i="1" dirty="0">
                <a:solidFill>
                  <a:srgbClr val="B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B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lang="en-US" sz="1600" i="1" dirty="0">
                <a:solidFill>
                  <a:srgbClr val="B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B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</a:t>
            </a:r>
            <a:r>
              <a:rPr lang="en-US" sz="1600" i="1" dirty="0">
                <a:solidFill>
                  <a:srgbClr val="B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B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afeta</a:t>
            </a:r>
            <a:r>
              <a:rPr lang="en-US" sz="1600" i="1" dirty="0">
                <a:solidFill>
                  <a:srgbClr val="B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B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</a:t>
            </a:r>
            <a:r>
              <a:rPr lang="en-US" sz="1600" i="1" dirty="0">
                <a:solidFill>
                  <a:srgbClr val="B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resultado.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DF633F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4F20DA3-E03D-3980-B298-CA6F56F4A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0027" y="212374"/>
            <a:ext cx="884906" cy="8849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126E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3087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 que o Fator Humano importa?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2560320" cy="73152"/>
          </a:xfrm>
          <a:prstGeom prst="rect">
            <a:avLst/>
          </a:prstGeom>
          <a:solidFill>
            <a:srgbClr val="6126E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6126E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77%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</a:t>
            </a:r>
            <a:r>
              <a:rPr lang="en-US" sz="1200" dirty="0" err="1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</a:t>
            </a:r>
            <a:r>
              <a:rPr lang="en-US" sz="1200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lang="en-US" sz="1200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estão</a:t>
            </a:r>
            <a:endParaRPr lang="en-US" sz="12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engajadas no trabalho</a:t>
            </a:r>
            <a:endParaRPr lang="en-US" sz="1600" b="1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Gallup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18872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383280" y="1188720"/>
            <a:ext cx="2560320" cy="73152"/>
          </a:xfrm>
          <a:prstGeom prst="rect">
            <a:avLst/>
          </a:prstGeom>
          <a:solidFill>
            <a:srgbClr val="DF633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83280" y="14173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F63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</a:t>
            </a:r>
            <a:r>
              <a:rPr lang="en-US" sz="4200" b="1" dirty="0">
                <a:solidFill>
                  <a:srgbClr val="DF63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$1T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566160" y="21488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anual do Burnout </a:t>
            </a:r>
            <a:r>
              <a:rPr lang="en-US" sz="1200" dirty="0" err="1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200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perda de produtividade</a:t>
            </a:r>
            <a:endParaRPr lang="en-US" sz="1200" b="1" dirty="0"/>
          </a:p>
        </p:txBody>
      </p:sp>
      <p:sp>
        <p:nvSpPr>
          <p:cNvPr id="13" name="Text 11"/>
          <p:cNvSpPr/>
          <p:nvPr/>
        </p:nvSpPr>
        <p:spPr>
          <a:xfrm>
            <a:off x="3566160" y="3108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OMS/Deloitte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217920" y="1188720"/>
            <a:ext cx="2560320" cy="73152"/>
          </a:xfrm>
          <a:prstGeom prst="rect">
            <a:avLst/>
          </a:prstGeom>
          <a:solidFill>
            <a:srgbClr val="019499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17920" y="14173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194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em 4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6400800" y="21488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</a:t>
            </a:r>
            <a:r>
              <a:rPr lang="en-US" sz="1200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terão</a:t>
            </a:r>
            <a:r>
              <a:rPr lang="en-US" sz="1200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algum</a:t>
            </a:r>
            <a:endParaRPr lang="en-US" sz="12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transtorno mental </a:t>
            </a:r>
            <a:r>
              <a:rPr lang="en-US" sz="1200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vida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3108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8229600" cy="822960"/>
          </a:xfrm>
          <a:prstGeom prst="rect">
            <a:avLst/>
          </a:prstGeom>
          <a:solidFill>
            <a:srgbClr val="03087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2960" y="38862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F633F"/>
                </a:solidFill>
              </a:rPr>
              <a:t>O problema:  </a:t>
            </a:r>
            <a:r>
              <a:rPr lang="en-US" sz="1400" dirty="0">
                <a:solidFill>
                  <a:srgbClr val="FFFFFF"/>
                </a:solidFill>
              </a:rPr>
              <a:t>Empresas medem receita e </a:t>
            </a:r>
            <a:r>
              <a:rPr lang="en-US" sz="1400" dirty="0" err="1">
                <a:solidFill>
                  <a:srgbClr val="FFFFFF"/>
                </a:solidFill>
              </a:rPr>
              <a:t>operação</a:t>
            </a:r>
            <a:r>
              <a:rPr lang="en-US" sz="1400" dirty="0">
                <a:solidFill>
                  <a:srgbClr val="FFFFFF"/>
                </a:solidFill>
              </a:rPr>
              <a:t>, mas </a:t>
            </a:r>
            <a:r>
              <a:rPr lang="en-US" sz="1400" dirty="0" err="1">
                <a:solidFill>
                  <a:srgbClr val="FFFFFF"/>
                </a:solidFill>
              </a:rPr>
              <a:t>não</a:t>
            </a:r>
            <a:r>
              <a:rPr lang="en-US" sz="1400" dirty="0">
                <a:solidFill>
                  <a:srgbClr val="FFFFFF"/>
                </a:solidFill>
              </a:rPr>
              <a:t> </a:t>
            </a:r>
            <a:r>
              <a:rPr lang="en-US" sz="1400" dirty="0" err="1">
                <a:solidFill>
                  <a:srgbClr val="FFFFFF"/>
                </a:solidFill>
              </a:rPr>
              <a:t>consideram</a:t>
            </a:r>
            <a:r>
              <a:rPr lang="en-US" sz="1400" dirty="0">
                <a:solidFill>
                  <a:srgbClr val="FFFFFF"/>
                </a:solidFill>
              </a:rPr>
              <a:t> o sistema que sustenta tudo: </a:t>
            </a:r>
            <a:r>
              <a:rPr lang="en-US" sz="1400" b="1" dirty="0">
                <a:solidFill>
                  <a:srgbClr val="019499"/>
                </a:solidFill>
              </a:rPr>
              <a:t>PESSOAS.</a:t>
            </a:r>
            <a:endParaRPr lang="en-US" sz="14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AD09D14-3B78-CA1F-78F9-DF98560A6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5960" y="67101"/>
            <a:ext cx="884906" cy="8849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3087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Arquitetura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Viva do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Autocuidado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23774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19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r>
              <a:rPr lang="en-US" sz="1300" dirty="0" err="1">
                <a:solidFill>
                  <a:srgbClr val="019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r>
              <a:rPr lang="en-US" sz="1300" dirty="0">
                <a:solidFill>
                  <a:srgbClr val="019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alma4D mensura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19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</a:t>
            </a:r>
            <a:r>
              <a:rPr lang="en-US" sz="1300" dirty="0" err="1">
                <a:solidFill>
                  <a:srgbClr val="019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dimensões</a:t>
            </a:r>
            <a:r>
              <a:rPr lang="en-US" sz="1300" dirty="0">
                <a:solidFill>
                  <a:srgbClr val="019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essenciais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3657600"/>
            <a:ext cx="2286000" cy="2286000"/>
          </a:xfrm>
          <a:prstGeom prst="ellipse">
            <a:avLst/>
          </a:prstGeom>
          <a:solidFill>
            <a:srgbClr val="6126E2">
              <a:alpha val="2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566160" y="457200"/>
            <a:ext cx="2468880" cy="2011680"/>
          </a:xfrm>
          <a:prstGeom prst="rect">
            <a:avLst/>
          </a:prstGeom>
          <a:solidFill>
            <a:srgbClr val="F8F9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566160" y="457200"/>
            <a:ext cx="64008" cy="2011680"/>
          </a:xfrm>
          <a:prstGeom prst="rect">
            <a:avLst/>
          </a:prstGeom>
          <a:solidFill>
            <a:srgbClr val="6126E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794760" y="685800"/>
            <a:ext cx="502920" cy="502920"/>
          </a:xfrm>
          <a:prstGeom prst="ellipse">
            <a:avLst/>
          </a:prstGeom>
          <a:solidFill>
            <a:srgbClr val="6126E2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4488" y="795528"/>
            <a:ext cx="283464" cy="2834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434840" y="7132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126E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Mental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794760" y="13716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</a:t>
            </a:r>
            <a:r>
              <a:rPr lang="en-US" sz="1100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Plena, </a:t>
            </a:r>
            <a:r>
              <a:rPr lang="en-US" sz="1100" dirty="0" err="1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Meditação</a:t>
            </a:r>
            <a:r>
              <a:rPr lang="en-US" sz="1100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Relaxamento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309360" y="457200"/>
            <a:ext cx="2468880" cy="2011680"/>
          </a:xfrm>
          <a:prstGeom prst="rect">
            <a:avLst/>
          </a:prstGeom>
          <a:solidFill>
            <a:srgbClr val="F8F9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6309360" y="457200"/>
            <a:ext cx="64008" cy="2011680"/>
          </a:xfrm>
          <a:prstGeom prst="rect">
            <a:avLst/>
          </a:prstGeom>
          <a:solidFill>
            <a:srgbClr val="019499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6537960" y="685800"/>
            <a:ext cx="502920" cy="502920"/>
          </a:xfrm>
          <a:prstGeom prst="ellipse">
            <a:avLst/>
          </a:prstGeom>
          <a:solidFill>
            <a:srgbClr val="019499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795528"/>
            <a:ext cx="283464" cy="28346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78040" y="7132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194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Fisico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537960" y="13716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Fisica, Postura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Corporal, Consciencia do Corpo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566160" y="2743200"/>
            <a:ext cx="2468880" cy="2011680"/>
          </a:xfrm>
          <a:prstGeom prst="rect">
            <a:avLst/>
          </a:prstGeom>
          <a:solidFill>
            <a:srgbClr val="F8F9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9" name="Shape 15"/>
          <p:cNvSpPr/>
          <p:nvPr/>
        </p:nvSpPr>
        <p:spPr>
          <a:xfrm>
            <a:off x="3566160" y="2743200"/>
            <a:ext cx="64008" cy="2011680"/>
          </a:xfrm>
          <a:prstGeom prst="rect">
            <a:avLst/>
          </a:prstGeom>
          <a:solidFill>
            <a:srgbClr val="DF633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0" name="Shape 16"/>
          <p:cNvSpPr/>
          <p:nvPr/>
        </p:nvSpPr>
        <p:spPr>
          <a:xfrm>
            <a:off x="3794760" y="2971800"/>
            <a:ext cx="502920" cy="502920"/>
          </a:xfrm>
          <a:prstGeom prst="ellipse">
            <a:avLst/>
          </a:prstGeom>
          <a:solidFill>
            <a:srgbClr val="DF633F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4488" y="3081528"/>
            <a:ext cx="283464" cy="28346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434840" y="29992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F63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Emocional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3794760" y="36576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Relações</a:t>
            </a:r>
            <a:r>
              <a:rPr lang="en-US" sz="1100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Trabalho,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Amigos e Familia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309360" y="2743200"/>
            <a:ext cx="2468880" cy="2011680"/>
          </a:xfrm>
          <a:prstGeom prst="rect">
            <a:avLst/>
          </a:prstGeom>
          <a:solidFill>
            <a:srgbClr val="F8F9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5" name="Shape 20"/>
          <p:cNvSpPr/>
          <p:nvPr/>
        </p:nvSpPr>
        <p:spPr>
          <a:xfrm>
            <a:off x="6309360" y="2743200"/>
            <a:ext cx="64008" cy="2011680"/>
          </a:xfrm>
          <a:prstGeom prst="rect">
            <a:avLst/>
          </a:prstGeom>
          <a:solidFill>
            <a:srgbClr val="03087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6" name="Shape 21"/>
          <p:cNvSpPr/>
          <p:nvPr/>
        </p:nvSpPr>
        <p:spPr>
          <a:xfrm>
            <a:off x="6537960" y="2971800"/>
            <a:ext cx="502920" cy="502920"/>
          </a:xfrm>
          <a:prstGeom prst="ellipse">
            <a:avLst/>
          </a:prstGeom>
          <a:solidFill>
            <a:srgbClr val="030870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7688" y="3081528"/>
            <a:ext cx="283464" cy="28346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178040" y="29992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3087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Vital</a:t>
            </a:r>
            <a:endParaRPr lang="en-US" sz="1800" dirty="0"/>
          </a:p>
        </p:txBody>
      </p:sp>
      <p:sp>
        <p:nvSpPr>
          <p:cNvPr id="29" name="Text 23"/>
          <p:cNvSpPr/>
          <p:nvPr/>
        </p:nvSpPr>
        <p:spPr>
          <a:xfrm>
            <a:off x="6537960" y="36576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Nutrição</a:t>
            </a:r>
            <a:r>
              <a:rPr lang="en-US" sz="1100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Sono e</a:t>
            </a:r>
            <a:endParaRPr lang="en-US" sz="1100" dirty="0"/>
          </a:p>
          <a:p>
            <a:pPr marL="0" indent="0">
              <a:buNone/>
            </a:pPr>
            <a:r>
              <a:rPr lang="en-US" sz="1100" dirty="0" err="1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Exposição</a:t>
            </a:r>
            <a:r>
              <a:rPr lang="en-US" sz="1100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ao Sol</a:t>
            </a:r>
            <a:endParaRPr lang="en-US" sz="11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64B6BCAF-B3BF-3395-BE25-92CC69DD1F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8627" y="0"/>
            <a:ext cx="884906" cy="8849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08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731520"/>
            <a:ext cx="2743200" cy="2743200"/>
          </a:xfrm>
          <a:prstGeom prst="ellipse">
            <a:avLst/>
          </a:prstGeom>
          <a:solidFill>
            <a:schemeClr val="bg2">
              <a:alpha val="25000"/>
            </a:scheme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-731520" y="3657600"/>
            <a:ext cx="2286000" cy="2286000"/>
          </a:xfrm>
          <a:prstGeom prst="ellipse">
            <a:avLst/>
          </a:prstGeom>
          <a:solidFill>
            <a:srgbClr val="019499">
              <a:alpha val="25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Nenhuma</a:t>
            </a: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Dimensão</a:t>
            </a: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atua Sozinha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b="1" dirty="0">
                <a:solidFill>
                  <a:srgbClr val="00B050"/>
                </a:solidFill>
              </a:rPr>
              <a:t>As dimensões se retroalimentam continuamente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2926080" cy="731520"/>
          </a:xfrm>
          <a:prstGeom prst="rect">
            <a:avLst/>
          </a:prstGeom>
          <a:solidFill>
            <a:srgbClr val="DF633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Queda Emocional</a:t>
            </a:r>
            <a:endParaRPr lang="en-US" sz="15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627632"/>
            <a:ext cx="411480" cy="411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663440" y="1463040"/>
            <a:ext cx="3749040" cy="731520"/>
          </a:xfrm>
          <a:prstGeom prst="rect">
            <a:avLst/>
          </a:prstGeom>
          <a:solidFill>
            <a:srgbClr val="DF633F">
              <a:alpha val="35000"/>
            </a:srgbClr>
          </a:solidFill>
          <a:ln w="25400">
            <a:solidFill>
              <a:srgbClr val="DF633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663440" y="146304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Impacta desempenho mental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31520" y="2423160"/>
            <a:ext cx="2926080" cy="731520"/>
          </a:xfrm>
          <a:prstGeom prst="rect">
            <a:avLst/>
          </a:prstGeom>
          <a:solidFill>
            <a:srgbClr val="6126E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31520" y="24231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Sobrecarga Mental</a:t>
            </a:r>
            <a:endParaRPr lang="en-US" sz="15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2587752"/>
            <a:ext cx="411480" cy="4114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663440" y="2423160"/>
            <a:ext cx="3749040" cy="731520"/>
          </a:xfrm>
          <a:prstGeom prst="rect">
            <a:avLst/>
          </a:prstGeom>
          <a:solidFill>
            <a:srgbClr val="6126E2">
              <a:alpha val="35000"/>
            </a:srgbClr>
          </a:solidFill>
          <a:ln w="25400">
            <a:solidFill>
              <a:srgbClr val="6126E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4663440" y="24231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somatização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impacta o fisico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731520" y="3383280"/>
            <a:ext cx="2926080" cy="731520"/>
          </a:xfrm>
          <a:prstGeom prst="rect">
            <a:avLst/>
          </a:prstGeom>
          <a:solidFill>
            <a:srgbClr val="019499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731520" y="33832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Falta de </a:t>
            </a:r>
            <a:r>
              <a:rPr lang="en-US" sz="15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Propósito</a:t>
            </a:r>
            <a:endParaRPr lang="en-US" sz="15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3547872"/>
            <a:ext cx="411480" cy="41148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663440" y="3383280"/>
            <a:ext cx="3749040" cy="731520"/>
          </a:xfrm>
          <a:prstGeom prst="rect">
            <a:avLst/>
          </a:prstGeom>
          <a:solidFill>
            <a:srgbClr val="019499">
              <a:alpha val="35000"/>
            </a:srgbClr>
          </a:solidFill>
          <a:ln w="25400">
            <a:solidFill>
              <a:srgbClr val="01949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4663440" y="33832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Impacta engajamento e performance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731520" y="4160520"/>
            <a:ext cx="7680960" cy="548640"/>
          </a:xfrm>
          <a:prstGeom prst="rect">
            <a:avLst/>
          </a:prstGeom>
          <a:solidFill>
            <a:srgbClr val="DF633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731520" y="4160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problemas na empresa s</a:t>
            </a:r>
            <a:r>
              <a:rPr lang="pt-BR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ã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reflexo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desequilibrios neste sistema.</a:t>
            </a:r>
            <a:endParaRPr lang="en-US" sz="14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EB08D15-1421-0810-9F06-24BA12C3C3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662" y="52354"/>
            <a:ext cx="884906" cy="8849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19499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03087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Operacionalização</a:t>
            </a:r>
            <a:r>
              <a:rPr lang="en-US" sz="3000" b="1" dirty="0">
                <a:solidFill>
                  <a:srgbClr val="03087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do </a:t>
            </a:r>
            <a:r>
              <a:rPr lang="en-US" sz="3000" b="1" dirty="0" err="1">
                <a:solidFill>
                  <a:srgbClr val="03087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Método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5603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2560320" cy="822960"/>
          </a:xfrm>
          <a:prstGeom prst="rect">
            <a:avLst/>
          </a:prstGeom>
          <a:solidFill>
            <a:srgbClr val="6126E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13716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148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126E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INPUT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2606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Autoavaliação</a:t>
            </a:r>
            <a:r>
              <a:rPr lang="en-US" sz="14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estruturada</a:t>
            </a:r>
            <a:endParaRPr lang="en-US" sz="1400" b="1" dirty="0"/>
          </a:p>
          <a:p>
            <a:pPr marL="0" indent="0">
              <a:buNone/>
            </a:pPr>
            <a:r>
              <a:rPr lang="en-US" sz="1200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(Roda Alma 4D)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83280" y="1188720"/>
            <a:ext cx="25603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3383280" y="1188720"/>
            <a:ext cx="2560320" cy="822960"/>
          </a:xfrm>
          <a:prstGeom prst="rect">
            <a:avLst/>
          </a:prstGeom>
          <a:solidFill>
            <a:srgbClr val="019499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520440" y="12344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6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137160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66160" y="2148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94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PROCESSAMENTO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566160" y="2606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total</a:t>
            </a:r>
            <a:r>
              <a:rPr lang="en-US" sz="1200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200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dimensão</a:t>
            </a:r>
            <a:r>
              <a:rPr lang="en-US" sz="1200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A0A2E"/>
                </a:solidFill>
                <a:latin typeface="Calibri" pitchFamily="34" charset="0"/>
                <a:cs typeface="Calibri" pitchFamily="34" charset="-120"/>
              </a:rPr>
              <a:t>E </a:t>
            </a:r>
            <a:r>
              <a:rPr lang="en-US" sz="1200" dirty="0" err="1">
                <a:solidFill>
                  <a:srgbClr val="0A0A2E"/>
                </a:solidFill>
                <a:latin typeface="Calibri" pitchFamily="34" charset="0"/>
                <a:cs typeface="Calibri" pitchFamily="34" charset="-120"/>
              </a:rPr>
              <a:t>por</a:t>
            </a:r>
            <a:r>
              <a:rPr lang="en-US" sz="1200" dirty="0">
                <a:solidFill>
                  <a:srgbClr val="0A0A2E"/>
                </a:solidFill>
                <a:latin typeface="Calibri" pitchFamily="34" charset="0"/>
                <a:cs typeface="Calibri" pitchFamily="34" charset="-120"/>
              </a:rPr>
              <a:t> item dimensional.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17920" y="1188720"/>
            <a:ext cx="25603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7" name="Shape 13"/>
          <p:cNvSpPr/>
          <p:nvPr/>
        </p:nvSpPr>
        <p:spPr>
          <a:xfrm>
            <a:off x="6217920" y="1188720"/>
            <a:ext cx="2560320" cy="822960"/>
          </a:xfrm>
          <a:prstGeom prst="rect">
            <a:avLst/>
          </a:prstGeom>
          <a:solidFill>
            <a:srgbClr val="DF633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6355080" y="12344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6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137160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00800" y="2148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F63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OUTPUT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00800" y="2606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</a:t>
            </a:r>
            <a:r>
              <a:rPr lang="en-US" sz="1400" b="1" dirty="0" err="1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estratégico</a:t>
            </a:r>
            <a:r>
              <a:rPr lang="en-US" sz="14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</a:t>
            </a:r>
            <a:endParaRPr lang="en-US" sz="1200" dirty="0"/>
          </a:p>
          <a:p>
            <a:pPr marL="0" indent="0">
              <a:buNone/>
            </a:pPr>
            <a:r>
              <a:rPr lang="en-US" sz="1200" dirty="0" err="1">
                <a:solidFill>
                  <a:srgbClr val="0A0A2E"/>
                </a:solidFill>
                <a:latin typeface="Calibri" pitchFamily="34" charset="0"/>
                <a:cs typeface="Calibri" pitchFamily="34" charset="-120"/>
              </a:rPr>
              <a:t>Visualização</a:t>
            </a:r>
            <a:r>
              <a:rPr lang="en-US" sz="1200" dirty="0">
                <a:solidFill>
                  <a:srgbClr val="0A0A2E"/>
                </a:solidFill>
                <a:latin typeface="Calibri" pitchFamily="34" charset="0"/>
                <a:cs typeface="Calibri" pitchFamily="34" charset="-120"/>
              </a:rPr>
              <a:t> de </a:t>
            </a:r>
            <a:r>
              <a:rPr lang="en-US" sz="1200" dirty="0" err="1">
                <a:solidFill>
                  <a:srgbClr val="0A0A2E"/>
                </a:solidFill>
                <a:latin typeface="Calibri" pitchFamily="34" charset="0"/>
                <a:cs typeface="Calibri" pitchFamily="34" charset="-120"/>
              </a:rPr>
              <a:t>evolutivos</a:t>
            </a:r>
            <a:r>
              <a:rPr lang="en-US" sz="1200" dirty="0">
                <a:solidFill>
                  <a:srgbClr val="0A0A2E"/>
                </a:solidFill>
                <a:latin typeface="Calibri" pitchFamily="34" charset="0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0A0A2E"/>
                </a:solidFill>
                <a:latin typeface="Calibri" pitchFamily="34" charset="0"/>
                <a:cs typeface="Calibri" pitchFamily="34" charset="-120"/>
              </a:rPr>
              <a:t>análises</a:t>
            </a:r>
            <a:r>
              <a:rPr lang="en-US" sz="1200" dirty="0">
                <a:solidFill>
                  <a:srgbClr val="0A0A2E"/>
                </a:solidFill>
                <a:latin typeface="Calibri" pitchFamily="34" charset="0"/>
                <a:cs typeface="Calibri" pitchFamily="34" charset="-120"/>
              </a:rPr>
              <a:t> de </a:t>
            </a:r>
            <a:r>
              <a:rPr lang="en-US" sz="1200" dirty="0" err="1">
                <a:solidFill>
                  <a:srgbClr val="0A0A2E"/>
                </a:solidFill>
                <a:latin typeface="Calibri" pitchFamily="34" charset="0"/>
                <a:cs typeface="Calibri" pitchFamily="34" charset="-120"/>
              </a:rPr>
              <a:t>Inteligência</a:t>
            </a:r>
            <a:r>
              <a:rPr lang="en-US" sz="1200" dirty="0">
                <a:solidFill>
                  <a:srgbClr val="0A0A2E"/>
                </a:solidFill>
                <a:latin typeface="Calibri" pitchFamily="34" charset="0"/>
                <a:cs typeface="Calibri" pitchFamily="34" charset="-120"/>
              </a:rPr>
              <a:t> Artificial.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48640" y="3749040"/>
            <a:ext cx="8229600" cy="914400"/>
          </a:xfrm>
          <a:prstGeom prst="rect">
            <a:avLst/>
          </a:prstGeom>
          <a:solidFill>
            <a:srgbClr val="03087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3" name="Shape 18"/>
          <p:cNvSpPr/>
          <p:nvPr/>
        </p:nvSpPr>
        <p:spPr>
          <a:xfrm>
            <a:off x="777240" y="3931920"/>
            <a:ext cx="594360" cy="594360"/>
          </a:xfrm>
          <a:prstGeom prst="ellipse">
            <a:avLst/>
          </a:prstGeom>
          <a:solidFill>
            <a:srgbClr val="019499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" y="4041648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54480" y="388620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19499"/>
                </a:solidFill>
              </a:rPr>
              <a:t>Compliance NR1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Atende a </a:t>
            </a:r>
            <a:r>
              <a:rPr lang="en-US" sz="1200" dirty="0" err="1">
                <a:solidFill>
                  <a:srgbClr val="FFFFFF"/>
                </a:solidFill>
              </a:rPr>
              <a:t>exigência</a:t>
            </a:r>
            <a:r>
              <a:rPr lang="en-US" sz="1200" dirty="0">
                <a:solidFill>
                  <a:srgbClr val="FFFFFF"/>
                </a:solidFill>
              </a:rPr>
              <a:t> legal de monitoramento de riscos psicossociais.</a:t>
            </a:r>
            <a:endParaRPr lang="en-US" sz="15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94CB785-3673-4318-C064-70087F3304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2907" y="54864"/>
            <a:ext cx="884906" cy="8849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3087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3087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Diferenciais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03087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alma4D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Tradicionais: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 Anual  |  Subjetivo  |  Reativo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411480" cy="411480"/>
          </a:xfrm>
          <a:prstGeom prst="ellipse">
            <a:avLst/>
          </a:prstGeom>
          <a:solidFill>
            <a:srgbClr val="019499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7744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22860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</a:t>
            </a:r>
            <a:r>
              <a:rPr lang="en-US" sz="15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Contínuo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926080"/>
            <a:ext cx="411480" cy="411480"/>
          </a:xfrm>
          <a:prstGeom prst="ellipse">
            <a:avLst/>
          </a:prstGeom>
          <a:solidFill>
            <a:srgbClr val="6126E2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1752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29260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Abordagem Estruturada e Preventiva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48640" y="3566160"/>
            <a:ext cx="411480" cy="411480"/>
          </a:xfrm>
          <a:prstGeom prst="ellipse">
            <a:avLst/>
          </a:prstGeom>
          <a:solidFill>
            <a:srgbClr val="DF633F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5760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35661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</a:t>
            </a:r>
            <a:r>
              <a:rPr lang="en-US" sz="15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Sistêmica</a:t>
            </a:r>
            <a:r>
              <a:rPr lang="en-US" sz="15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Estrutura Humana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548640" y="4206240"/>
            <a:ext cx="411480" cy="411480"/>
          </a:xfrm>
          <a:prstGeom prst="ellipse">
            <a:avLst/>
          </a:prstGeom>
          <a:solidFill>
            <a:srgbClr val="030870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97680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3000" y="42062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</a:t>
            </a:r>
            <a:r>
              <a:rPr lang="en-US" sz="1500" b="1" dirty="0" err="1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5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</a:t>
            </a:r>
            <a:r>
              <a:rPr lang="en-US" sz="15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Sustentável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217920" y="9144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alma4D</a:t>
            </a:r>
            <a:endParaRPr lang="en-US" sz="3200" dirty="0"/>
          </a:p>
        </p:txBody>
      </p:sp>
      <p:sp>
        <p:nvSpPr>
          <p:cNvPr id="19" name="Shape 13"/>
          <p:cNvSpPr/>
          <p:nvPr/>
        </p:nvSpPr>
        <p:spPr>
          <a:xfrm>
            <a:off x="6858000" y="2011680"/>
            <a:ext cx="2286000" cy="2286000"/>
          </a:xfrm>
          <a:prstGeom prst="ellipse">
            <a:avLst/>
          </a:prstGeom>
          <a:solidFill>
            <a:srgbClr val="6126E2">
              <a:alpha val="3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0" name="Shape 14"/>
          <p:cNvSpPr/>
          <p:nvPr/>
        </p:nvSpPr>
        <p:spPr>
          <a:xfrm>
            <a:off x="6217920" y="3200400"/>
            <a:ext cx="1828800" cy="1828800"/>
          </a:xfrm>
          <a:prstGeom prst="ellipse">
            <a:avLst/>
          </a:prstGeom>
          <a:solidFill>
            <a:schemeClr val="bg1">
              <a:alpha val="30000"/>
            </a:scheme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1" name="Shape 15"/>
          <p:cNvSpPr/>
          <p:nvPr/>
        </p:nvSpPr>
        <p:spPr>
          <a:xfrm>
            <a:off x="7498080" y="3657600"/>
            <a:ext cx="1188720" cy="1188720"/>
          </a:xfrm>
          <a:prstGeom prst="ellipse">
            <a:avLst/>
          </a:prstGeom>
          <a:solidFill>
            <a:srgbClr val="DF633F">
              <a:alpha val="45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2" name="Shape 16"/>
          <p:cNvSpPr/>
          <p:nvPr/>
        </p:nvSpPr>
        <p:spPr>
          <a:xfrm>
            <a:off x="0" y="4800600"/>
            <a:ext cx="5943600" cy="342900"/>
          </a:xfrm>
          <a:prstGeom prst="rect">
            <a:avLst/>
          </a:prstGeom>
          <a:solidFill>
            <a:srgbClr val="019499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AC539E0-61A3-36B2-00C7-4D50926FE9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9867" y="3659387"/>
            <a:ext cx="884906" cy="8849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248</Words>
  <Application>Microsoft Office PowerPoint</Application>
  <PresentationFormat>On-screen Show (16:9)</PresentationFormat>
  <Paragraphs>73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rp brasil</dc:creator>
  <cp:keywords/>
  <dc:description>generated using python-pptx</dc:description>
  <cp:lastModifiedBy>rp brasil</cp:lastModifiedBy>
  <cp:revision>8</cp:revision>
  <dcterms:created xsi:type="dcterms:W3CDTF">2013-01-27T09:14:16Z</dcterms:created>
  <dcterms:modified xsi:type="dcterms:W3CDTF">2026-04-18T10:59:44Z</dcterms:modified>
  <cp:category/>
</cp:coreProperties>
</file>